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22"/>
    <p:sldId id="263" r:id="rId9"/>
    <p:sldId id="264" r:id="rId10"/>
    <p:sldId id="265" r:id="rId11"/>
    <p:sldId id="266" r:id="rId12"/>
    <p:sldId id="267" r:id="rId13"/>
    <p:sldId id="272" r:id="rId23"/>
    <p:sldId id="273" r:id="rId24"/>
    <p:sldId id="274" r:id="rId25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<Relationship Id="rId25" Type="http://schemas.openxmlformats.org/officeDocument/2006/relationships/slide" Target="slides/slide19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Overall F1 across four real eval milestones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 F1 (OVERLAP)</c:v>
                </c:pt>
              </c:strCache>
            </c:strRef>
          </c:tx>
          <c:spPr>
            <a:solidFill>
              <a:srgbClr val="0F6E5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Before
recognizers</c:v>
                  </c:pt>
                  <c:pt idx="1">
                    <c:v>+ Accession/
Account/Claim</c:v>
                  </c:pt>
                  <c:pt idx="2">
                    <c:v>+ Dedupe
bug fix</c:v>
                  </c:pt>
                  <c:pt idx="3">
                    <c:v>+ Phone-ext
fix</c:v>
                  </c:pt>
                  <c:pt idx="4">
                    <c:v>+ Header-person
fix (final)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0.6023</c:v>
                </c:pt>
                <c:pt idx="1">
                  <c:v>0.644</c:v>
                </c:pt>
                <c:pt idx="2">
                  <c:v>0.6433</c:v>
                </c:pt>
                <c:pt idx="3">
                  <c:v>0.6602</c:v>
                </c:pt>
                <c:pt idx="4">
                  <c:v>0.6619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F5E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1270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IITM PRAVARTAK  ·  ADVANCED CERTIFICATION IN AGENTIC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PHI De-identification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Compliance Workflow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multi-agent system that detects, redacts, and audits Protected Health Information in clinical documents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agents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8328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38328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documents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0.6814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03504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overall F1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68680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fixed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6263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Number: 9   ·   Team: Ramya Priyanka A, Komal Arora, Pujitha Vasanth, Sandeep R, Shourya NS, Twisha Patel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documents are full of PHI—and redacting it by hand doesn't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8470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Names, DOB, MRNs, phone &amp; account numbers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22402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report, pathology report, and discharge summary carries multiple HIPAA Safe Harbor identifiers.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91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32186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missed detection is a real leak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36118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Under-redaction exposes patients. Over-redaction destroys the document's clinical usefulness.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45902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review doesn't scale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49834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throughput demands an automated first pass — but one that knows when to ask for help.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9893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goal: a system honest about its own uncertainty — auto-redact what it trusts, ask a human about what it doesn't, then verify its own output.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genuine LangGraph state machine — not a linear script</a:t>
            </a:r>
            <a:endParaRPr lang="en-US" sz="3000" dirty="0"/>
          </a:p>
        </p:txBody>
      </p:sp>
      <p:sp>
        <p:nvSpPr>
          <p:cNvPr id="90" name="Text 90"/>
          <p:cNvSpPr/>
          <p:nvPr/>
        </p:nvSpPr>
        <p:spPr>
          <a:xfrm>
            <a:off x="548640" y="1500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for space: PHIValidationAgent (schema check) and the optional LLMAdjudicationAgent (Slide 8) run between PHI Detection and this split.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148840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404872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0F6E56"/>
          </a:solidFill>
          <a:ln/>
        </p:spPr>
      </p:sp>
      <p:sp>
        <p:nvSpPr>
          <p:cNvPr id="8" name="Text 6"/>
          <p:cNvSpPr/>
          <p:nvPr/>
        </p:nvSpPr>
        <p:spPr>
          <a:xfrm>
            <a:off x="2404872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05072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261104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BA7517"/>
          </a:solidFill>
          <a:ln/>
        </p:spPr>
      </p:sp>
      <p:sp>
        <p:nvSpPr>
          <p:cNvPr id="11" name="Text 9"/>
          <p:cNvSpPr/>
          <p:nvPr/>
        </p:nvSpPr>
        <p:spPr>
          <a:xfrm>
            <a:off x="4261104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61304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17336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0F6E56"/>
          </a:solidFill>
          <a:ln/>
        </p:spPr>
      </p:sp>
      <p:sp>
        <p:nvSpPr>
          <p:cNvPr id="14" name="Text 12"/>
          <p:cNvSpPr/>
          <p:nvPr/>
        </p:nvSpPr>
        <p:spPr>
          <a:xfrm>
            <a:off x="6117336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17536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73568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993C1D"/>
          </a:solidFill>
          <a:ln/>
        </p:spPr>
      </p:sp>
      <p:sp>
        <p:nvSpPr>
          <p:cNvPr id="17" name="Text 15"/>
          <p:cNvSpPr/>
          <p:nvPr/>
        </p:nvSpPr>
        <p:spPr>
          <a:xfrm>
            <a:off x="7973568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573768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829800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1F4E79"/>
          </a:solidFill>
          <a:ln/>
        </p:spPr>
      </p:sp>
      <p:sp>
        <p:nvSpPr>
          <p:cNvPr id="20" name="Text 18"/>
          <p:cNvSpPr/>
          <p:nvPr/>
        </p:nvSpPr>
        <p:spPr>
          <a:xfrm>
            <a:off x="9829800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589520" y="3246120"/>
            <a:ext cx="0" cy="502920"/>
          </a:xfrm>
          <a:prstGeom prst="line">
            <a:avLst/>
          </a:prstGeom>
          <a:noFill/>
          <a:ln w="19050">
            <a:solidFill>
              <a:srgbClr val="993C1D"/>
            </a:solidFill>
            <a:prstDash val="dash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033520" y="3650000"/>
            <a:ext cx="566064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FAIL, retries left → loop back to PHI Detection (max 2 retries)</a:t>
            </a:r>
          </a:p>
          <a:p>
            <a:pPr indent="0" marL="0">
              <a:buNone/>
            </a:pPr>
            <a:r>
              <a:rPr lang="en-US" sz="1100" i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exhausted → auto-redact + one-shot escalation review (Slide 8)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resume — interrupt() genuinely pauses execution for low-confidence spans and waits for a human decision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1208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Checkpointed with SQLite
</a:t>
            </a:r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in-flight human-review session survives a process restart — falls back to an in-memory checkpointer automatically if unavailable.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80760" y="507492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09360" y="5212080"/>
            <a:ext cx="5074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converge before validation
</a:t>
            </a:r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Human-approved spans are redacted exactly like auto-approved ones — nothing reaches validation un-redacted.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Collaboration topology, memory, and guardrails — made explicit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E1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topology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Hierarchical pipeline + human-in-the-loop debate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3346704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orchestrator owns the sequence — agents don't negotiate directly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777240" y="4242816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HumanReviewAgent is the one debate step: reviewer's call is authoritative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138928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peer-to-peer or blackboard — this workflow's order is strict and known in advance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34340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EB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architecture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Short-term vs. persistent, deliberately not mixed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0" y="3346704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9" name="Text 17"/>
          <p:cNvSpPr/>
          <p:nvPr/>
        </p:nvSpPr>
        <p:spPr>
          <a:xfrm>
            <a:off x="478231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GraphState, scoped to one document's run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4572000" y="4242816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1" name="Text 19"/>
          <p:cNvSpPr/>
          <p:nvPr/>
        </p:nvSpPr>
        <p:spPr>
          <a:xfrm>
            <a:off x="478231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Persistent: SQLite checkpointer survives a process restart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4572000" y="5138928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3" name="Text 21"/>
          <p:cNvSpPr/>
          <p:nvPr/>
        </p:nvSpPr>
        <p:spPr>
          <a:xfrm>
            <a:off x="478231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rejected_spans persists per-document only — one patient's review never affects another's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6676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FAECE7"/>
          </a:solidFill>
          <a:ln/>
        </p:spPr>
      </p:sp>
      <p:sp>
        <p:nvSpPr>
          <p:cNvPr id="26" name="Text 24"/>
          <p:cNvSpPr/>
          <p:nvPr/>
        </p:nvSpPr>
        <p:spPr>
          <a:xfrm>
            <a:off x="836676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at every layer, not left implicit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366760" y="3346704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29" name="Text 27"/>
          <p:cNvSpPr/>
          <p:nvPr/>
        </p:nvSpPr>
        <p:spPr>
          <a:xfrm>
            <a:off x="857707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API-key auth + PHI-safe error handling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8366760" y="4242816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is a hard gate, not a suggestion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8366760" y="5138928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33" name="Text 31"/>
          <p:cNvSpPr/>
          <p:nvPr/>
        </p:nvSpPr>
        <p:spPr>
          <a:xfrm>
            <a:off x="857707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retries; LLM calls isolated with automatic fallback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n2c2 2014 was unavailable — we built a reproducible alternative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n2c2 2014 is listed “Temporarily Unavailable” on the DBMI Data Portal. Rather than block on it, the ground truth was built from two combined sources: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Kaggle “Medical Transcriptions”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22960" y="306324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clinical document structure and language across 7 document types (CC0 license).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233172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25603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95160" y="25603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PHI injector (Faker)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55080" y="3063240"/>
            <a:ext cx="5074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Stamps a labeled identifying-info header onto each document and records the exact character span of every value inserted — an exact, reproducible ground truth.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48640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documents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410712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10712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3410712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doc types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2784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72784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2,150+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272784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PHI spans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134856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34856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per type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HARDENING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features built as real, tested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Per-type confidence thresholds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Regex-backed types auto-redact at 0.6; noisy NER types (PERSON, DATE_TIME) require 0.8–0.85 before skipping human review.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a 0% recall gap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ACCESSION/ACCOUNT/CLAIM number types had zero recognizers or a broken regex — both fixed.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checkpointer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6676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 sessions now survive a process restart, not just an in-memory pause.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key authentication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PHI-handling endpoint requires X-API-Key, checked via constant-time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4340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PHI-safe logging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 never echo document content back to the caller — server-side log + correlation ID only.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GPT-4o-mini classification, with retrieval-augmented prompting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classifier stays a zero-API-key heuristic. Setting PHI_DEID_CLASSIFICATION_BACKEND=llm swaps in a real model call — with automatic fallback to the heuristic on any failure.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1460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993C1D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pre-scrub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632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BA7517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1228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9516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15" name="Text 13"/>
          <p:cNvSpPr/>
          <p:nvPr/>
        </p:nvSpPr>
        <p:spPr>
          <a:xfrm>
            <a:off x="699516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14400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doc_type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5349240" cy="2194560"/>
          </a:xfrm>
          <a:prstGeom prst="roundRect">
            <a:avLst>
              <a:gd name="adj" fmla="val 3333"/>
            </a:avLst>
          </a:prstGeom>
          <a:solidFill>
            <a:srgbClr val="FAECE7"/>
          </a:solidFill>
          <a:ln w="12700">
            <a:solidFill>
              <a:srgbClr val="FAEC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886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93C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pre-scrub — a project-specific concern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22960" y="42976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2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runs before any redaction — sending raw text to a third-party API would ship real PHI off-machine before this tool has done its one job. A fast deterministic regex pass masks names/SSN/phone/email/MRN before anything reaches OpenAI.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80760" y="370332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3886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5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Retrieval-augmented few-shot — a real RAG pattern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429768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example snippets embedded once; the input is embedded and compared by cosine similarity to pick the 3 most relevant as few-shot context — embed → nearest-neighbor → inject into prompt, the same pattern a Chroma/FAISS-backed system uses, sized for a small static set.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PRESIDIO BACKEND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Real, repeated eval runs — not a self-reported number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6002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3524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PHONE_NUMBER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35240" y="20574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0.996 precision / 0.996 recall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TP · 1 FP · 1 FN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06640" y="29718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EBF3FB"/>
          </a:solidFill>
          <a:ln w="12700">
            <a:solidFill>
              <a:srgbClr val="EBF3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31089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(after header-line fix)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35240" y="34290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1.0000 recall under Presidio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0.01 on the regex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06640" y="434340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/ HEALTH_PLAN_ID /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ACCOUNT_NUMBER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35240" y="502920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~100% precision &amp; recall after closing the recognizer gap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&amp; ERROR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assumed: what is human review actually worth?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HumanReviewAgent: ON vs OFF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ON: low-confidence spans routed to a reviewer, correctly approved.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OFF: low-confidence spans left un-redacted entirely.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F1 — 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29260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0.6599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F1 — OFF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06240" y="3383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0.6304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delta (ON − OFF)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206240" y="38404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+0.0295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1605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delta both ways (STRICT +0.0471, OVERLAP +0.0295) — human review is measurably load-bearing, not decorative.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5303520" cy="2788920"/>
          </a:xfrm>
          <a:prstGeom prst="roundRect">
            <a:avLst>
              <a:gd name="adj" fmla="val 262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4D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analysis: real FP/FN examples, not aggregate counts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0" y="237744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eval/error_analysis.py pulls real spans with surrounding document context. Most FPs confirmed the known out-of-taxonomy story. One systematic FN pattern was new — see next slide.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617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scripts run against the real 350-document Presidio-backend set — evidence, not estimation. Viewable live in the Streamlit UI's Evaluation dashboard.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confirmed bugs, each with root cause and verified fix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RESOLUTION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 detections silently dropped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ACCESSION_NUMBER measured 70% recall under Presidio despite 100% precision. A diagnostic script proved Presidio's raw output was correct for all 50 docs — the bug was our own overlap de-duplication sorting by position instead of confidence.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candidate spans by confidence descending before resolving overlaps. Re-run confirmed 50/50, 100% precision &amp; recall.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WORD BOUNDARY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number with extension leaked unredacted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“+1-834-576-8701x462” passed straight through. A trailing \b boundary fails between a digit and a directly-adjacent letter, so the whole match — not just the extension — failed.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shared extension-aware regex suffix to both the fallback pattern and a new Presidio recognizer. Confirmed fixed live and via eval.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through live testing — not a synthetic eval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OVER-EXTENSION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match swallowed the next line's label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“Patient Name: James Simmons MD\r\nDOB:” collapsed into one corrupted line — the match crossed the line break and ate the “DOB:” label and the newline itself.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span containing \r or \n is truncated to end right before the line break. Confirmed fixed — header fields now render as clean, separate lines.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/ RETRY LOOP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reviewer's “reject” could never actually stick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re-scanned redacted text every retry, re-detecting a rejected span and looping back to human review with the identical question — forever, or until the reviewer gave in and clicked Approve.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rejected_spans to GraphState, consulted by both detection and validation. Confirmed live: reject now reaches PASS on retry_count = 0.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through systematic error analysis, not live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STRUCTURED-HEADER NER GAP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 names in bare “Label: Name” headers were systematically missed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eval/error_analysis.py sampled 5 FNs — all ordinary names (Brian York, Tiffany Barnes, Chad May...) sitting right after a role-label header (“Patient Name:”, “Referring Physician:”) with zero surrounding sentence context. Ordinary names ruled out “rare name confuses NER” — spaCy's general-purpose model specifically underperforms on headers with no sentence structure to lean 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</a:rPr>
              <a:t>Fix: </a:t>
            </a:r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</a:rPr>
              <a:t>Added header_person_recognizer — a targeted Presidio pattern for the exact label vocabulary in use (Patient Name, Provider, Referring/Ordering Physician, Radiologist, Pathologist), mirroring the existing MRN/accession recognizers.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fixed: PERSON recall 0.99 → 1.0000 (all prior FNs closed). Overall F1 improved to 0.6619.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UI — a thin HTTP client, not a shortcut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talks to the FastAPI backend over REST, exactly as any other caller would — it never imports the graph or agents directly.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text or upload a .txt / .pdf / .docx file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5468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900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progress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stepper — each LangGraph node checks off as it runs (SSE)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30936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92240" y="2514600"/>
            <a:ext cx="457200" cy="457200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9224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Low-confidence spans pause for human approve/reject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1540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8972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7260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60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7260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37260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text, compliance report, audit log, timing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8920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2960" y="5074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</a:rPr>
              <a:t>Real progress, not simulated  </a:t>
            </a:r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</a:rPr>
              <a:t>/redact/stream emits an event after each node actually finishes (LangGraph .stream()) — the UI's checklist reflects genuine execution, not a timed animation.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892040"/>
            <a:ext cx="5532120" cy="1234440"/>
          </a:xfrm>
          <a:prstGeom prst="roundRect">
            <a:avLst>
              <a:gd name="adj" fmla="val 5926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5508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</a:rPr>
              <a:t>Evaluation dashboard, in-app  </a:t>
            </a:r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</a:rPr>
              <a:t>A second UI page reads eval/*.csv and *.md straight off disk — ablation study and error analysis, viewable without leaving the app.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Documented honestly — not silently omitted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4767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0136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Clinical-domain NER fine-tuning (scispaCy) not yet applied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99923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5292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thresholds are hand-picked, not statistically calibrated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05079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90448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precision understated by out-of-taxonomy entity types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10235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95604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Safe Harbor identifiers (vehicle/device IDs) not covered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4767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0136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 / drift detection — eval is on-demand only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99923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285292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rate limiting or input size cap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405079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0448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checkpointer caps deployment at one process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510235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95604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cross-document memory — deliberate, not a missed feature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9893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above is a scoped trade-off given the capstone timeline — not a hidden defect.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Project Stands Out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Measure, don't assume. Verify a fix before claiming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242316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evaluation number comes from a real execution of the eval harness — final OVERALL F1 0.6814, recall fully saturated (2,150 of 2,150 spans) — not a hand-picked or simulated result.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52044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34747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nine bugs in this deck was found through genuine debugging, live testing, or systematic error analysis, and confirmed fixed with real evidence.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572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452628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knows when to trust itself and when to ask a human, an ablation study proves that step is worth it, and the UI shows the pipeline actually running — live, not staged.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60350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  ·  github.com/Ramya192/phi-deidentification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LLM TIER &amp; RELIABILITY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third hardening pass: a genuine agentic LLM tier, plus reliability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adjudication agent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Tool-calling + structured output (Pydantic), off by default. Reviews only ambiguous spans; a low-confidence call or a failure defers to a human rather than guessing.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audit trail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SQLAlchemy-backed store, separate from the checkpointer. PHI span text is sanitized to a placeholder before every write.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Retry-cap escalation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6676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retries are exhausted, deterministic types auto-redact and only ambiguous types get one final human review — the run always terminates.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endpoint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/redact/batch processes several documents per request; one malformed file reports its own error, not a batch-wide failure.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4340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score &amp; real /health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compliance_checks + a 0–1 compliance_score; /health now reports real readiness instead of a hardcoded “ok”.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found through real end-to-end testing this session, not code review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SPAN REPORTING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retry pass silently discarded everything found earlier in the run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the PDF sample through the Streamlit UI showed only 1 PHI span detected, with MRN and PERSON reported as missing — yet the redacted output clearly showed both redacted. PHIDetectionAgent re-scans only the current redacted_text on a retry (by design), but PHIValidationAgent and AuditReportAgent read phi_spans, which gets replaced, not merged, on every pass.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all_detected_spans to GraphState, an accumulator PHIDetectionAgent appends to on every pass. Confirmed via 2 new regression tests reproducing the exact scenario; 53 tests passing at the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IDENTIFIER + THRESHOLD KEY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human-review demo sample didn't actually trigger review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attempt used an unlabeled phone number, guessing it would score low — real testing proved that wrong (a custom recognizer scores any 10-digit match 0.75, well above threshold). Also found: CONFIDENCE_THRESHOLDS only had a “SSN” key; Presidio's real entity type is “US_SSN”, silently falling back to a 0.7 default instead of the intended 0.6.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testing real Presidio recognizers directly: a bare 9-digit number scores 0.4 (below 0.65). Added it to the sample doc and the missing “US_SSN” threshold key. Confirmed live: human_review_invoked: true.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testing the live LLM classification backend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TEST-ISOLATION GAP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tests failed intermittently once a real OPENAI_API_KEY was in play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PHI_DEID_CLASSIFICATION_BACKEND=llm set, thin synthetic test text (e.g. “Patient contact: ...email... or ...phone...”) could reasonably be classified not_applicable by the real model rather than clinical_note — correct from the LLM's view, but it skips redaction/validation/audit entirely, leaving those fields unset. Confirmed by monkeypatching classify_with_llm to return not_applicable and reproducing the identical failure, no real API call needed.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</a:rPr>
              <a:t>Fix: </a:t>
            </a:r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</a:rPr>
              <a:t>Pinned PHI_DEID_CLASSIFICATION_BACKEND to “heuristic” in every graph-invoking test fixture (test_integration.py, test_api_batch.py, and three others) — these are control-flow tests and shouldn't depend on a live external API call.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both the default heuristic backend and PHI_DEID_CLASSIFICATION_BACKEND=llm forced globally, matching the developer's real .env: 57 of 57 tests pass either way.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via eval error analysis after the first live Streamlit Cloud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 RECOGNIZER COLLISION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ordinary US phone numbers silently mislabeled as UK NHS numbers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Presidio ships a built-in NhsRecognizer (UK NHS number recognizer) that validates any 10-digit sequence against the real NHS Mod-11 checksum and returns a perfect 1.0 confidence, no UK context needed. Two ordinary US phone numbers happened to pass that checksum, so the NHS candidate beat this project's own PHONE_NUMBER detections in the overlap-resolution step — the span was still redacted (no PHI leak), just mislabeled.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</a:rPr>
              <a:t>Fix: </a:t>
            </a:r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</a:rPr>
              <a:t>Deregistered NhsRecognizer from the analyzer registry — same pattern already used to remove the irrelevant US_DRIVER_LICENSE recognizer, since neither is relevant to this project's all-US clinical documents.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 improved 0.6619 → 0.6814, recall reached a perfect 2,150/2,150 labeled spans (zero false negatives) — confirmed by re-running the full eval suite. 57/57 tests still pass.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2026-07-25T08:50:59Z</dcterms:created>
  <dcterms:modified xsi:type="dcterms:W3CDTF">2026-07-25T08:50:59Z</dcterms:modified>
</cp:coreProperties>
</file>